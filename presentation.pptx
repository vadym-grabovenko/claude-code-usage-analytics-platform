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2148840"/>
            <a:ext cx="1280160" cy="82296"/>
          </a:xfrm>
          <a:prstGeom prst="roundRect">
            <a:avLst>
              <a:gd name="adj" fmla="val 50000"/>
            </a:avLst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spc="200">
                <a:solidFill>
                  <a:srgbClr val="8EB6EC"/>
                </a:solidFill>
                <a:latin typeface="Consolas"/>
              </a:rPr>
              <a:t>INTERNSHIP ASSIGNMENT · APPROACH &amp;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68880"/>
            <a:ext cx="108749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Claude Code Usage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Analytics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43400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B9C4D0"/>
                </a:solidFill>
                <a:latin typeface="Calibri"/>
              </a:rPr>
              <a:t>An end-to-end pipeline that turns 454K doubly-nested telemetry events into cost, reliability, and adoption decisions — served from a single command.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5715000"/>
            <a:ext cx="2496312" cy="384048"/>
          </a:xfrm>
          <a:prstGeom prst="roundRect">
            <a:avLst>
              <a:gd name="adj" fmla="val 50000"/>
            </a:avLst>
          </a:prstGeom>
          <a:solidFill>
            <a:srgbClr val="1B222B"/>
          </a:solidFill>
          <a:ln w="9525">
            <a:solidFill>
              <a:srgbClr val="30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724144"/>
            <a:ext cx="249631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D5DDE5"/>
                </a:solidFill>
                <a:latin typeface="Consolas"/>
              </a:rPr>
              <a:t>03 Dec 2025 – 31 Jan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82696" y="5715000"/>
            <a:ext cx="1062532" cy="384048"/>
          </a:xfrm>
          <a:prstGeom prst="roundRect">
            <a:avLst>
              <a:gd name="adj" fmla="val 50000"/>
            </a:avLst>
          </a:prstGeom>
          <a:solidFill>
            <a:srgbClr val="1B222B"/>
          </a:solidFill>
          <a:ln w="9525">
            <a:solidFill>
              <a:srgbClr val="30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82696" y="5724144"/>
            <a:ext cx="10625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D5DDE5"/>
                </a:solidFill>
                <a:latin typeface="Consolas"/>
              </a:rPr>
              <a:t>100 users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3244" y="5715000"/>
            <a:ext cx="1510588" cy="384048"/>
          </a:xfrm>
          <a:prstGeom prst="roundRect">
            <a:avLst>
              <a:gd name="adj" fmla="val 50000"/>
            </a:avLst>
          </a:prstGeom>
          <a:solidFill>
            <a:srgbClr val="1B222B"/>
          </a:solidFill>
          <a:ln w="9525">
            <a:solidFill>
              <a:srgbClr val="30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3244" y="5724144"/>
            <a:ext cx="15105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D5DDE5"/>
                </a:solidFill>
                <a:latin typeface="Consolas"/>
              </a:rPr>
              <a:t>5,000 sessions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11848" y="5715000"/>
            <a:ext cx="2675534" cy="384048"/>
          </a:xfrm>
          <a:prstGeom prst="roundRect">
            <a:avLst>
              <a:gd name="adj" fmla="val 50000"/>
            </a:avLst>
          </a:prstGeom>
          <a:solidFill>
            <a:srgbClr val="1B222B"/>
          </a:solidFill>
          <a:ln w="9525">
            <a:solidFill>
              <a:srgbClr val="30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11848" y="5724144"/>
            <a:ext cx="267553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D5DDE5"/>
                </a:solidFill>
                <a:latin typeface="Consolas"/>
              </a:rPr>
              <a:t>Python · DuckDB · Streamlit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398" y="5715000"/>
            <a:ext cx="1779422" cy="384048"/>
          </a:xfrm>
          <a:prstGeom prst="roundRect">
            <a:avLst>
              <a:gd name="adj" fmla="val 50000"/>
            </a:avLst>
          </a:prstGeom>
          <a:solidFill>
            <a:srgbClr val="1B222B"/>
          </a:solidFill>
          <a:ln w="9525">
            <a:solidFill>
              <a:srgbClr val="30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398" y="5724144"/>
            <a:ext cx="177942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D5DDE5"/>
                </a:solidFill>
                <a:latin typeface="Consolas"/>
              </a:rPr>
              <a:t>docker compose 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spc="200">
                <a:solidFill>
                  <a:srgbClr val="185AB0"/>
                </a:solidFill>
                <a:latin typeface="Consolas"/>
              </a:rPr>
              <a:t>01 —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F151B"/>
                </a:solidFill>
                <a:latin typeface="Calibri"/>
              </a:rPr>
              <a:t>What the dataset holds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011680"/>
            <a:ext cx="1675333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40101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0F151B"/>
                </a:solidFill>
                <a:latin typeface="Consolas"/>
              </a:rPr>
              <a:t>$6,001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40101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spc="50">
                <a:solidFill>
                  <a:srgbClr val="47525F"/>
                </a:solidFill>
                <a:latin typeface="Calibri"/>
              </a:rPr>
              <a:t>TOTAL SPEND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98293" y="2011680"/>
            <a:ext cx="1675333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62885" y="2286000"/>
            <a:ext cx="140101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0F151B"/>
                </a:solidFill>
                <a:latin typeface="Consolas"/>
              </a:rPr>
              <a:t>454K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2885" y="3063240"/>
            <a:ext cx="140101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spc="50">
                <a:solidFill>
                  <a:srgbClr val="47525F"/>
                </a:solidFill>
                <a:latin typeface="Calibri"/>
              </a:rPr>
              <a:t>EVENTS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2011680"/>
            <a:ext cx="1675333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2810" y="2286000"/>
            <a:ext cx="140101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0F151B"/>
                </a:solidFill>
                <a:latin typeface="Consolas"/>
              </a:rPr>
              <a:t>118K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2810" y="3063240"/>
            <a:ext cx="140101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spc="50">
                <a:solidFill>
                  <a:srgbClr val="47525F"/>
                </a:solidFill>
                <a:latin typeface="Calibri"/>
              </a:rPr>
              <a:t>API REQUESTS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8143" y="2011680"/>
            <a:ext cx="1675333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2735" y="2286000"/>
            <a:ext cx="140101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0F151B"/>
                </a:solidFill>
                <a:latin typeface="Consolas"/>
              </a:rPr>
              <a:t>6.45B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2735" y="3063240"/>
            <a:ext cx="140101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spc="50">
                <a:solidFill>
                  <a:srgbClr val="47525F"/>
                </a:solidFill>
                <a:latin typeface="Calibri"/>
              </a:rPr>
              <a:t>TOKENS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8068" y="2011680"/>
            <a:ext cx="1675333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2660" y="2286000"/>
            <a:ext cx="140101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0F151B"/>
                </a:solidFill>
                <a:latin typeface="Consolas"/>
              </a:rPr>
              <a:t>5,000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2660" y="3063240"/>
            <a:ext cx="140101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spc="50">
                <a:solidFill>
                  <a:srgbClr val="47525F"/>
                </a:solidFill>
                <a:latin typeface="Calibri"/>
              </a:rPr>
              <a:t>SESSIONS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57993" y="2011680"/>
            <a:ext cx="1675333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22585" y="2286000"/>
            <a:ext cx="140101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0F151B"/>
                </a:solidFill>
                <a:latin typeface="Consolas"/>
              </a:rPr>
              <a:t>1.15%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22585" y="3063240"/>
            <a:ext cx="140101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spc="50">
                <a:solidFill>
                  <a:srgbClr val="47525F"/>
                </a:solidFill>
                <a:latin typeface="Calibri"/>
              </a:rPr>
              <a:t>API ERROR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023360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47525F"/>
                </a:solidFill>
                <a:latin typeface="Calibri"/>
              </a:rPr>
              <a:t>60 days · 100 employees · 5 event types (api_request, tool_decision, tool_result, user_prompt, api_error).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7A8794"/>
                </a:solidFill>
                <a:latin typeface="Consolas"/>
              </a:rPr>
              <a:t>Figures computed live from data/analytics.duckdb via queries.py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spc="200">
                <a:solidFill>
                  <a:srgbClr val="185AB0"/>
                </a:solidFill>
                <a:latin typeface="Consolas"/>
              </a:rPr>
              <a:t>02 — 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F151B"/>
                </a:solidFill>
                <a:latin typeface="Calibri"/>
              </a:rPr>
              <a:t>Usage is overwhelmingly tool-driven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783080"/>
            <a:ext cx="10874959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965960"/>
            <a:ext cx="10234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151B"/>
                </a:solidFill>
                <a:latin typeface="Calibri"/>
              </a:rPr>
              <a:t>Event mix — share of all 454K 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2450592"/>
            <a:ext cx="1965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tool_decision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44368" y="2468880"/>
            <a:ext cx="6851599" cy="274320"/>
          </a:xfrm>
          <a:prstGeom prst="roundRect">
            <a:avLst>
              <a:gd name="adj" fmla="val 28000"/>
            </a:avLst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44368" y="2468880"/>
            <a:ext cx="6851599" cy="274320"/>
          </a:xfrm>
          <a:prstGeom prst="roundRect">
            <a:avLst>
              <a:gd name="adj" fmla="val 2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05695" y="2450592"/>
            <a:ext cx="1417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onsolas"/>
              </a:rPr>
              <a:t>33.3%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816352"/>
            <a:ext cx="1965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tool_result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44368" y="2834640"/>
            <a:ext cx="6851599" cy="274320"/>
          </a:xfrm>
          <a:prstGeom prst="roundRect">
            <a:avLst>
              <a:gd name="adj" fmla="val 28000"/>
            </a:avLst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44368" y="2834640"/>
            <a:ext cx="6714567" cy="274320"/>
          </a:xfrm>
          <a:prstGeom prst="roundRect">
            <a:avLst>
              <a:gd name="adj" fmla="val 2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05695" y="2816352"/>
            <a:ext cx="1417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onsolas"/>
              </a:rPr>
              <a:t>32.7%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182112"/>
            <a:ext cx="1965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api_request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44368" y="3200400"/>
            <a:ext cx="6851599" cy="274320"/>
          </a:xfrm>
          <a:prstGeom prst="roundRect">
            <a:avLst>
              <a:gd name="adj" fmla="val 28000"/>
            </a:avLst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44368" y="3200400"/>
            <a:ext cx="5344247" cy="274320"/>
          </a:xfrm>
          <a:prstGeom prst="roundRect">
            <a:avLst>
              <a:gd name="adj" fmla="val 28000"/>
            </a:avLst>
          </a:prstGeom>
          <a:solidFill>
            <a:srgbClr val="0F9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05695" y="3182112"/>
            <a:ext cx="1417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onsolas"/>
              </a:rPr>
              <a:t>26.0%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3547872"/>
            <a:ext cx="1965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user_prompt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44368" y="3566160"/>
            <a:ext cx="6851599" cy="274320"/>
          </a:xfrm>
          <a:prstGeom prst="roundRect">
            <a:avLst>
              <a:gd name="adj" fmla="val 28000"/>
            </a:avLst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944368" y="3566160"/>
            <a:ext cx="1575867" cy="274320"/>
          </a:xfrm>
          <a:prstGeom prst="roundRect">
            <a:avLst>
              <a:gd name="adj" fmla="val 28000"/>
            </a:avLst>
          </a:prstGeom>
          <a:solidFill>
            <a:srgbClr val="D08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05695" y="3547872"/>
            <a:ext cx="1417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onsolas"/>
              </a:rPr>
              <a:t>7.7%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913632"/>
            <a:ext cx="1965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api_error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44368" y="3931920"/>
            <a:ext cx="6851599" cy="274320"/>
          </a:xfrm>
          <a:prstGeom prst="roundRect">
            <a:avLst>
              <a:gd name="adj" fmla="val 28000"/>
            </a:avLst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944368" y="3931920"/>
            <a:ext cx="205547" cy="274320"/>
          </a:xfrm>
          <a:prstGeom prst="roundRect">
            <a:avLst>
              <a:gd name="adj" fmla="val 28000"/>
            </a:avLst>
          </a:prstGeom>
          <a:solidFill>
            <a:srgbClr val="CF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05695" y="3913632"/>
            <a:ext cx="1417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onsolas"/>
              </a:rPr>
              <a:t>0.3%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709160"/>
            <a:ext cx="10874959" cy="841248"/>
          </a:xfrm>
          <a:prstGeom prst="roundRect">
            <a:avLst>
              <a:gd name="adj" fmla="val 10000"/>
            </a:avLst>
          </a:prstGeom>
          <a:solidFill>
            <a:srgbClr val="E9F1FC"/>
          </a:solidFill>
          <a:ln w="9525">
            <a:solidFill>
              <a:srgbClr val="BED7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9536" y="4928616"/>
            <a:ext cx="1554480" cy="310896"/>
          </a:xfrm>
          <a:prstGeom prst="roundRect">
            <a:avLst>
              <a:gd name="adj" fmla="val 30000"/>
            </a:avLst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4933188"/>
            <a:ext cx="1554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spc="100">
                <a:solidFill>
                  <a:srgbClr val="FFFFFF"/>
                </a:solidFill>
                <a:latin typeface="Consolas"/>
              </a:rPr>
              <a:t>PRODUCT SIGNAL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4855464"/>
            <a:ext cx="84975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0F151B"/>
                </a:solidFill>
                <a:latin typeface="Calibri"/>
              </a:rPr>
              <a:t>Two-thirds of all events are tool interactions. Each prompt drives ~4 model turns and ~16 tool calls — the value lives in the agentic loop, not one-shot completion. Instrument the tool layer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spc="200">
                <a:solidFill>
                  <a:srgbClr val="185AB0"/>
                </a:solidFill>
                <a:latin typeface="Consolas"/>
              </a:rPr>
              <a:t>03 — FINOPS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F151B"/>
                </a:solidFill>
                <a:latin typeface="Calibri"/>
              </a:rPr>
              <a:t>71% of spend sits in one model family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783080"/>
            <a:ext cx="10874959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965960"/>
            <a:ext cx="10234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151B"/>
                </a:solidFill>
                <a:latin typeface="Calibri"/>
              </a:rPr>
              <a:t>Cost by model family — $6,001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2496312"/>
            <a:ext cx="1965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Opus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44368" y="2514600"/>
            <a:ext cx="5617159" cy="274320"/>
          </a:xfrm>
          <a:prstGeom prst="roundRect">
            <a:avLst>
              <a:gd name="adj" fmla="val 28000"/>
            </a:avLst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44368" y="2514600"/>
            <a:ext cx="5617159" cy="274320"/>
          </a:xfrm>
          <a:prstGeom prst="roundRect">
            <a:avLst>
              <a:gd name="adj" fmla="val 2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71255" y="2496312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onsolas"/>
              </a:rPr>
              <a:t>$4,258</a:t>
            </a:r>
            <a:r>
              <a:rPr sz="1150" b="0">
                <a:solidFill>
                  <a:srgbClr val="7A8794"/>
                </a:solidFill>
                <a:latin typeface="Consolas"/>
              </a:rPr>
              <a:t>  71%  ·  42% of calls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935224"/>
            <a:ext cx="1965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Sonnet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44368" y="2953512"/>
            <a:ext cx="5617159" cy="274320"/>
          </a:xfrm>
          <a:prstGeom prst="roundRect">
            <a:avLst>
              <a:gd name="adj" fmla="val 28000"/>
            </a:avLst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44368" y="2953512"/>
            <a:ext cx="2078348" cy="274320"/>
          </a:xfrm>
          <a:prstGeom prst="roundRect">
            <a:avLst>
              <a:gd name="adj" fmla="val 28000"/>
            </a:avLst>
          </a:prstGeom>
          <a:solidFill>
            <a:srgbClr val="0F9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71255" y="2935224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onsolas"/>
              </a:rPr>
              <a:t>$1,558</a:t>
            </a:r>
            <a:r>
              <a:rPr sz="1150" b="0">
                <a:solidFill>
                  <a:srgbClr val="7A8794"/>
                </a:solidFill>
                <a:latin typeface="Consolas"/>
              </a:rPr>
              <a:t>  26%  ·  19% of calls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374136"/>
            <a:ext cx="1965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Haiku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44368" y="3392424"/>
            <a:ext cx="5617159" cy="274320"/>
          </a:xfrm>
          <a:prstGeom prst="roundRect">
            <a:avLst>
              <a:gd name="adj" fmla="val 28000"/>
            </a:avLst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44368" y="3392424"/>
            <a:ext cx="247154" cy="274320"/>
          </a:xfrm>
          <a:prstGeom prst="roundRect">
            <a:avLst>
              <a:gd name="adj" fmla="val 28000"/>
            </a:avLst>
          </a:prstGeom>
          <a:solidFill>
            <a:srgbClr val="D08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71255" y="3374136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onsolas"/>
              </a:rPr>
              <a:t>$186</a:t>
            </a:r>
            <a:r>
              <a:rPr sz="1150" b="0">
                <a:solidFill>
                  <a:srgbClr val="7A8794"/>
                </a:solidFill>
                <a:latin typeface="Consolas"/>
              </a:rPr>
              <a:t>  3%  ·  39% of calls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343400"/>
            <a:ext cx="10874959" cy="841248"/>
          </a:xfrm>
          <a:prstGeom prst="roundRect">
            <a:avLst>
              <a:gd name="adj" fmla="val 10000"/>
            </a:avLst>
          </a:prstGeom>
          <a:solidFill>
            <a:srgbClr val="E9F1FC"/>
          </a:solidFill>
          <a:ln w="9525">
            <a:solidFill>
              <a:srgbClr val="BED7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9536" y="4562856"/>
            <a:ext cx="1554480" cy="310896"/>
          </a:xfrm>
          <a:prstGeom prst="roundRect">
            <a:avLst>
              <a:gd name="adj" fmla="val 30000"/>
            </a:avLst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4567428"/>
            <a:ext cx="1554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spc="100">
                <a:solidFill>
                  <a:srgbClr val="FFFFFF"/>
                </a:solidFill>
                <a:latin typeface="Consolas"/>
              </a:rPr>
              <a:t>DECISION · ROUTING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4489704"/>
            <a:ext cx="84975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0F151B"/>
                </a:solidFill>
                <a:latin typeface="Calibri"/>
              </a:rPr>
              <a:t>Opus costs ~21× more per request than Haiku ($0.086 vs $0.004). Model routing is the single biggest cost lever — shifting low-complexity turns off Opus moves the $4.3K bar, not the $186 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spc="200">
                <a:solidFill>
                  <a:srgbClr val="185AB0"/>
                </a:solidFill>
                <a:latin typeface="Consolas"/>
              </a:rPr>
              <a:t>04 — 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F151B"/>
                </a:solidFill>
                <a:latin typeface="Calibri"/>
              </a:rPr>
              <a:t>Spend is flat across seniority — adoption is broad-based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783080"/>
            <a:ext cx="5300319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938528"/>
            <a:ext cx="4751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F151B"/>
                </a:solidFill>
                <a:latin typeface="Calibri"/>
              </a:rPr>
              <a:t>Cost per user by seniority (L1–L10)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404872"/>
            <a:ext cx="1005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L1–L3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38528" y="2423160"/>
            <a:ext cx="2922879" cy="274320"/>
          </a:xfrm>
          <a:prstGeom prst="roundRect">
            <a:avLst>
              <a:gd name="adj" fmla="val 28000"/>
            </a:avLst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38528" y="2423160"/>
            <a:ext cx="2630591" cy="274320"/>
          </a:xfrm>
          <a:prstGeom prst="roundRect">
            <a:avLst>
              <a:gd name="adj" fmla="val 28000"/>
            </a:avLst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71135" y="2404872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onsolas"/>
              </a:rPr>
              <a:t>$63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62072"/>
            <a:ext cx="1005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L4–L6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38528" y="2880360"/>
            <a:ext cx="2922879" cy="274320"/>
          </a:xfrm>
          <a:prstGeom prst="roundRect">
            <a:avLst>
              <a:gd name="adj" fmla="val 28000"/>
            </a:avLst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38528" y="2880360"/>
            <a:ext cx="2513675" cy="274320"/>
          </a:xfrm>
          <a:prstGeom prst="roundRect">
            <a:avLst>
              <a:gd name="adj" fmla="val 28000"/>
            </a:avLst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71135" y="2862072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onsolas"/>
              </a:rPr>
              <a:t>$60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319272"/>
            <a:ext cx="1005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L7–L10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38528" y="3337560"/>
            <a:ext cx="2922879" cy="274320"/>
          </a:xfrm>
          <a:prstGeom prst="roundRect">
            <a:avLst>
              <a:gd name="adj" fmla="val 28000"/>
            </a:avLst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938528" y="3337560"/>
            <a:ext cx="2396760" cy="274320"/>
          </a:xfrm>
          <a:prstGeom prst="roundRect">
            <a:avLst>
              <a:gd name="adj" fmla="val 28000"/>
            </a:avLst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1135" y="3319272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onsolas"/>
              </a:rPr>
              <a:t>$57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840480"/>
            <a:ext cx="4751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47525F"/>
                </a:solidFill>
                <a:latin typeface="Calibri"/>
              </a:rPr>
              <a:t>Tight $51–70 band across all ten levels.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1783080"/>
            <a:ext cx="5300319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7327" y="1938528"/>
            <a:ext cx="4751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F151B"/>
                </a:solidFill>
                <a:latin typeface="Calibri"/>
              </a:rPr>
              <a:t>Cost per user by practice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327" y="2359152"/>
            <a:ext cx="1051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Data Eng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58887" y="2377440"/>
            <a:ext cx="2877159" cy="201168"/>
          </a:xfrm>
          <a:prstGeom prst="roundRect">
            <a:avLst>
              <a:gd name="adj" fmla="val 28000"/>
            </a:avLst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58887" y="2377440"/>
            <a:ext cx="2877159" cy="201168"/>
          </a:xfrm>
          <a:prstGeom prst="roundRect">
            <a:avLst>
              <a:gd name="adj" fmla="val 28000"/>
            </a:avLst>
          </a:prstGeom>
          <a:solidFill>
            <a:srgbClr val="0F9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45774" y="2359152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onsolas"/>
              </a:rPr>
              <a:t>$62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7327" y="2670048"/>
            <a:ext cx="1051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Backend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58887" y="2688336"/>
            <a:ext cx="2877159" cy="201168"/>
          </a:xfrm>
          <a:prstGeom prst="roundRect">
            <a:avLst>
              <a:gd name="adj" fmla="val 28000"/>
            </a:avLst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558887" y="2688336"/>
            <a:ext cx="2848387" cy="201168"/>
          </a:xfrm>
          <a:prstGeom prst="roundRect">
            <a:avLst>
              <a:gd name="adj" fmla="val 28000"/>
            </a:avLst>
          </a:prstGeom>
          <a:solidFill>
            <a:srgbClr val="0F9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45774" y="2670048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onsolas"/>
              </a:rPr>
              <a:t>$62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7327" y="2980944"/>
            <a:ext cx="1051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ML Eng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58887" y="2999232"/>
            <a:ext cx="2877159" cy="201168"/>
          </a:xfrm>
          <a:prstGeom prst="roundRect">
            <a:avLst>
              <a:gd name="adj" fmla="val 28000"/>
            </a:avLst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558887" y="2999232"/>
            <a:ext cx="2848387" cy="201168"/>
          </a:xfrm>
          <a:prstGeom prst="roundRect">
            <a:avLst>
              <a:gd name="adj" fmla="val 28000"/>
            </a:avLst>
          </a:prstGeom>
          <a:solidFill>
            <a:srgbClr val="0F9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45774" y="298094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onsolas"/>
              </a:rPr>
              <a:t>$61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7327" y="3291840"/>
            <a:ext cx="1051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Frontend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58887" y="3310128"/>
            <a:ext cx="2877159" cy="201168"/>
          </a:xfrm>
          <a:prstGeom prst="roundRect">
            <a:avLst>
              <a:gd name="adj" fmla="val 28000"/>
            </a:avLst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558887" y="3310128"/>
            <a:ext cx="2733301" cy="201168"/>
          </a:xfrm>
          <a:prstGeom prst="roundRect">
            <a:avLst>
              <a:gd name="adj" fmla="val 28000"/>
            </a:avLst>
          </a:prstGeom>
          <a:solidFill>
            <a:srgbClr val="0F9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45774" y="3291840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onsolas"/>
              </a:rPr>
              <a:t>$59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7327" y="3602736"/>
            <a:ext cx="1051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Platform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58887" y="3621024"/>
            <a:ext cx="2877159" cy="201168"/>
          </a:xfrm>
          <a:prstGeom prst="roundRect">
            <a:avLst>
              <a:gd name="adj" fmla="val 28000"/>
            </a:avLst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558887" y="3621024"/>
            <a:ext cx="2474356" cy="201168"/>
          </a:xfrm>
          <a:prstGeom prst="roundRect">
            <a:avLst>
              <a:gd name="adj" fmla="val 28000"/>
            </a:avLst>
          </a:prstGeom>
          <a:solidFill>
            <a:srgbClr val="0F9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45774" y="3602736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onsolas"/>
              </a:rPr>
              <a:t>$53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4572000"/>
            <a:ext cx="10874959" cy="841248"/>
          </a:xfrm>
          <a:prstGeom prst="roundRect">
            <a:avLst>
              <a:gd name="adj" fmla="val 10000"/>
            </a:avLst>
          </a:prstGeom>
          <a:solidFill>
            <a:srgbClr val="E9F1FC"/>
          </a:solidFill>
          <a:ln w="9525">
            <a:solidFill>
              <a:srgbClr val="BED7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59536" y="4791456"/>
            <a:ext cx="1554480" cy="310896"/>
          </a:xfrm>
          <a:prstGeom prst="roundRect">
            <a:avLst>
              <a:gd name="adj" fmla="val 30000"/>
            </a:avLst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" y="4796028"/>
            <a:ext cx="1554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spc="100">
                <a:solidFill>
                  <a:srgbClr val="FFFFFF"/>
                </a:solidFill>
                <a:latin typeface="Consolas"/>
              </a:rPr>
              <a:t>DECISION · ENABLEMENT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15184" y="4718304"/>
            <a:ext cx="84975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0F151B"/>
                </a:solidFill>
                <a:latin typeface="Calibri"/>
              </a:rPr>
              <a:t>Neither seniority nor practice predicts spend — uniform, healthy adoption rather than a few power users carrying the tool. Enablement and budgeting can be flat per head.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spc="200">
                <a:solidFill>
                  <a:srgbClr val="185AB0"/>
                </a:solidFill>
                <a:latin typeface="Consolas"/>
              </a:rPr>
              <a:t>05 — PLATFORM / DX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F151B"/>
                </a:solidFill>
                <a:latin typeface="Calibri"/>
              </a:rPr>
              <a:t>Bash is the reliability &amp; latency hotspot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83664"/>
            <a:ext cx="3200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spc="100">
                <a:solidFill>
                  <a:srgbClr val="7A8794"/>
                </a:solidFill>
                <a:latin typeface="Consolas"/>
              </a:rPr>
              <a:t>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58768" y="1883664"/>
            <a:ext cx="18288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spc="100">
                <a:solidFill>
                  <a:srgbClr val="7A8794"/>
                </a:solidFill>
                <a:latin typeface="Consolas"/>
              </a:rPr>
              <a:t>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87568" y="1883664"/>
            <a:ext cx="19202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spc="100">
                <a:solidFill>
                  <a:srgbClr val="7A8794"/>
                </a:solidFill>
                <a:latin typeface="Consolas"/>
              </a:rPr>
              <a:t>SUCCESS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7808" y="1883664"/>
            <a:ext cx="2103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spc="100">
                <a:solidFill>
                  <a:srgbClr val="7A8794"/>
                </a:solidFill>
                <a:latin typeface="Consolas"/>
              </a:rPr>
              <a:t>AVG LATENCY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0928" y="1883664"/>
            <a:ext cx="182239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spc="100">
                <a:solidFill>
                  <a:srgbClr val="7A8794"/>
                </a:solidFill>
                <a:latin typeface="Consolas"/>
              </a:rPr>
              <a:t>REJECT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222136"/>
            <a:ext cx="10874959" cy="90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286000"/>
            <a:ext cx="3200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8768" y="2286000"/>
            <a:ext cx="18288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47525F"/>
                </a:solidFill>
                <a:latin typeface="Consolas"/>
              </a:rPr>
              <a:t>45,077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7568" y="2286000"/>
            <a:ext cx="19202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A7D18"/>
                </a:solidFill>
                <a:latin typeface="Consolas"/>
              </a:rPr>
              <a:t>98.5%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286000"/>
            <a:ext cx="2103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47525F"/>
                </a:solidFill>
                <a:latin typeface="Consolas"/>
              </a:rPr>
              <a:t>35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0928" y="2286000"/>
            <a:ext cx="182239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47525F"/>
                </a:solidFill>
                <a:latin typeface="Consolas"/>
              </a:rPr>
              <a:t>2.0%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624472"/>
            <a:ext cx="10874959" cy="90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2633472"/>
            <a:ext cx="10966399" cy="402336"/>
          </a:xfrm>
          <a:prstGeom prst="roundRect">
            <a:avLst>
              <a:gd name="adj" fmla="val 12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633472"/>
            <a:ext cx="45720" cy="402336"/>
          </a:xfrm>
          <a:prstGeom prst="rect">
            <a:avLst/>
          </a:prstGeom>
          <a:solidFill>
            <a:srgbClr val="CF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688336"/>
            <a:ext cx="3200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Bash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58768" y="2688336"/>
            <a:ext cx="18288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47525F"/>
                </a:solidFill>
                <a:latin typeface="Consolas"/>
              </a:rPr>
              <a:t>42,332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87568" y="2688336"/>
            <a:ext cx="19202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F3A3A"/>
                </a:solidFill>
                <a:latin typeface="Consolas"/>
              </a:rPr>
              <a:t>93.0%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2688336"/>
            <a:ext cx="2103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F3A3A"/>
                </a:solidFill>
                <a:latin typeface="Consolas"/>
              </a:rPr>
              <a:t>5,363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0928" y="2688336"/>
            <a:ext cx="182239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47525F"/>
                </a:solidFill>
                <a:latin typeface="Consolas"/>
              </a:rPr>
              <a:t>2.0%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026808"/>
            <a:ext cx="10874959" cy="90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090672"/>
            <a:ext cx="3200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Edit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58768" y="3090672"/>
            <a:ext cx="18288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47525F"/>
                </a:solidFill>
                <a:latin typeface="Consolas"/>
              </a:rPr>
              <a:t>18,759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87568" y="3090672"/>
            <a:ext cx="19202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A7D18"/>
                </a:solidFill>
                <a:latin typeface="Consolas"/>
              </a:rPr>
              <a:t>99.1%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7808" y="3090672"/>
            <a:ext cx="2103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47525F"/>
                </a:solidFill>
                <a:latin typeface="Consolas"/>
              </a:rPr>
              <a:t>1,896 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0928" y="3090672"/>
            <a:ext cx="182239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47525F"/>
                </a:solidFill>
                <a:latin typeface="Consolas"/>
              </a:rPr>
              <a:t>1.9%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3429144"/>
            <a:ext cx="10874959" cy="90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493008"/>
            <a:ext cx="3200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Grep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58768" y="3493008"/>
            <a:ext cx="18288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47525F"/>
                </a:solidFill>
                <a:latin typeface="Consolas"/>
              </a:rPr>
              <a:t>11,342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87568" y="3493008"/>
            <a:ext cx="19202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A7D18"/>
                </a:solidFill>
                <a:latin typeface="Consolas"/>
              </a:rPr>
              <a:t>99.0%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7808" y="3493008"/>
            <a:ext cx="2103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47525F"/>
                </a:solidFill>
                <a:latin typeface="Consolas"/>
              </a:rPr>
              <a:t>495 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0928" y="3493008"/>
            <a:ext cx="182239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47525F"/>
                </a:solidFill>
                <a:latin typeface="Consolas"/>
              </a:rPr>
              <a:t>1.9%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3831480"/>
            <a:ext cx="10874959" cy="90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3895344"/>
            <a:ext cx="3200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Glob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58768" y="3895344"/>
            <a:ext cx="18288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47525F"/>
                </a:solidFill>
                <a:latin typeface="Consolas"/>
              </a:rPr>
              <a:t>6,929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87568" y="3895344"/>
            <a:ext cx="19202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A7D18"/>
                </a:solidFill>
                <a:latin typeface="Consolas"/>
              </a:rPr>
              <a:t>99.0%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07808" y="3895344"/>
            <a:ext cx="2103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47525F"/>
                </a:solidFill>
                <a:latin typeface="Consolas"/>
              </a:rPr>
              <a:t>778 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10928" y="3895344"/>
            <a:ext cx="182239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47525F"/>
                </a:solidFill>
                <a:latin typeface="Consolas"/>
              </a:rPr>
              <a:t>2.3%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233816"/>
            <a:ext cx="10874959" cy="90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4297680"/>
            <a:ext cx="3200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Write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58768" y="4297680"/>
            <a:ext cx="18288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47525F"/>
                </a:solidFill>
                <a:latin typeface="Consolas"/>
              </a:rPr>
              <a:t>4,172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87568" y="4297680"/>
            <a:ext cx="19202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A7D18"/>
                </a:solidFill>
                <a:latin typeface="Consolas"/>
              </a:rPr>
              <a:t>99.1%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07808" y="4297680"/>
            <a:ext cx="2103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47525F"/>
                </a:solidFill>
                <a:latin typeface="Consolas"/>
              </a:rPr>
              <a:t>370 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10928" y="4297680"/>
            <a:ext cx="182239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47525F"/>
                </a:solidFill>
                <a:latin typeface="Consolas"/>
              </a:rPr>
              <a:t>2.1%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4636152"/>
            <a:ext cx="10874959" cy="90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" y="4700016"/>
            <a:ext cx="3200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Task (sub-agent)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58768" y="4700016"/>
            <a:ext cx="18288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47525F"/>
                </a:solidFill>
                <a:latin typeface="Consolas"/>
              </a:rPr>
              <a:t>2,605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87568" y="4700016"/>
            <a:ext cx="19202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A7D18"/>
                </a:solidFill>
                <a:latin typeface="Consolas"/>
              </a:rPr>
              <a:t>99.0%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07808" y="4700016"/>
            <a:ext cx="2103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47525F"/>
                </a:solidFill>
                <a:latin typeface="Consolas"/>
              </a:rPr>
              <a:t>500,631 ms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10928" y="4700016"/>
            <a:ext cx="182239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47525F"/>
                </a:solidFill>
                <a:latin typeface="Consolas"/>
              </a:rPr>
              <a:t>2.1%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" y="5038488"/>
            <a:ext cx="10874959" cy="90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58368" y="5394960"/>
            <a:ext cx="10874959" cy="841248"/>
          </a:xfrm>
          <a:prstGeom prst="roundRect">
            <a:avLst>
              <a:gd name="adj" fmla="val 10000"/>
            </a:avLst>
          </a:prstGeom>
          <a:solidFill>
            <a:srgbClr val="E9F1FC"/>
          </a:solidFill>
          <a:ln w="9525">
            <a:solidFill>
              <a:srgbClr val="BED7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59536" y="5614416"/>
            <a:ext cx="1554480" cy="310896"/>
          </a:xfrm>
          <a:prstGeom prst="roundRect">
            <a:avLst>
              <a:gd name="adj" fmla="val 30000"/>
            </a:avLst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9536" y="5618988"/>
            <a:ext cx="1554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spc="100">
                <a:solidFill>
                  <a:srgbClr val="FFFFFF"/>
                </a:solidFill>
                <a:latin typeface="Consolas"/>
              </a:rPr>
              <a:t>DECISION · GUARDRAILS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15184" y="5541264"/>
            <a:ext cx="84975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0F151B"/>
                </a:solidFill>
                <a:latin typeface="Calibri"/>
              </a:rPr>
              <a:t>Bash is the 2nd-most-used tool but the only common one under 93% success and multi-second latency — the clear target for sandboxing. Task's ~500s runtime is expected (it runs a whole agent); exclude it from interactive-latency SLOs.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spc="200">
                <a:solidFill>
                  <a:srgbClr val="185AB0"/>
                </a:solidFill>
                <a:latin typeface="Consolas"/>
              </a:rPr>
              <a:t>06 — TRUST &amp;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F151B"/>
                </a:solidFill>
                <a:latin typeface="Calibri"/>
              </a:rPr>
              <a:t>Config carries authorization; rate-limiting leads failures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783080"/>
            <a:ext cx="5300319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938528"/>
            <a:ext cx="4751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F151B"/>
                </a:solidFill>
                <a:latin typeface="Calibri"/>
              </a:rPr>
              <a:t>How tool calls were authorized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404872"/>
            <a:ext cx="1600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config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32888" y="2423160"/>
            <a:ext cx="2419959" cy="237744"/>
          </a:xfrm>
          <a:prstGeom prst="roundRect">
            <a:avLst>
              <a:gd name="adj" fmla="val 28000"/>
            </a:avLst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32888" y="2423160"/>
            <a:ext cx="2419959" cy="237744"/>
          </a:xfrm>
          <a:prstGeom prst="roundRect">
            <a:avLst>
              <a:gd name="adj" fmla="val 28000"/>
            </a:avLst>
          </a:prstGeom>
          <a:solidFill>
            <a:srgbClr val="0F9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62575" y="2404872"/>
            <a:ext cx="731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onsolas"/>
              </a:rPr>
              <a:t>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788920"/>
            <a:ext cx="1600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user_temporary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32888" y="2807208"/>
            <a:ext cx="2419959" cy="237744"/>
          </a:xfrm>
          <a:prstGeom prst="roundRect">
            <a:avLst>
              <a:gd name="adj" fmla="val 28000"/>
            </a:avLst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32888" y="2807208"/>
            <a:ext cx="459792" cy="237744"/>
          </a:xfrm>
          <a:prstGeom prst="roundRect">
            <a:avLst>
              <a:gd name="adj" fmla="val 28000"/>
            </a:avLst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62575" y="2788920"/>
            <a:ext cx="731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onsolas"/>
              </a:rPr>
              <a:t>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72968"/>
            <a:ext cx="1600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user_permanent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32888" y="3191256"/>
            <a:ext cx="2419959" cy="237744"/>
          </a:xfrm>
          <a:prstGeom prst="roundRect">
            <a:avLst>
              <a:gd name="adj" fmla="val 28000"/>
            </a:avLst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532888" y="3191256"/>
            <a:ext cx="96798" cy="237744"/>
          </a:xfrm>
          <a:prstGeom prst="roundRect">
            <a:avLst>
              <a:gd name="adj" fmla="val 28000"/>
            </a:avLst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62575" y="3172968"/>
            <a:ext cx="731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onsolas"/>
              </a:rPr>
              <a:t>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557016"/>
            <a:ext cx="1600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user_reject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32888" y="3575304"/>
            <a:ext cx="2419959" cy="237744"/>
          </a:xfrm>
          <a:prstGeom prst="roundRect">
            <a:avLst>
              <a:gd name="adj" fmla="val 28000"/>
            </a:avLst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532888" y="3575304"/>
            <a:ext cx="60498" cy="237744"/>
          </a:xfrm>
          <a:prstGeom prst="roundRect">
            <a:avLst>
              <a:gd name="adj" fmla="val 28000"/>
            </a:avLst>
          </a:prstGeom>
          <a:solidFill>
            <a:srgbClr val="CF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62575" y="3557016"/>
            <a:ext cx="731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onsolas"/>
              </a:rPr>
              <a:t>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114800"/>
            <a:ext cx="4751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47525F"/>
                </a:solidFill>
                <a:latin typeface="Calibri"/>
              </a:rPr>
              <a:t>Only 2% actively rejected — trust is high. The 15% temporary approvals are the backlog to promote to permanent allowlists.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3007" y="1783080"/>
            <a:ext cx="5300319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7327" y="1938528"/>
            <a:ext cx="4751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F151B"/>
                </a:solidFill>
                <a:latin typeface="Calibri"/>
              </a:rPr>
              <a:t>API errors by status code (1,362)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7327" y="2359152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undefined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44687" y="2377440"/>
            <a:ext cx="2374239" cy="219456"/>
          </a:xfrm>
          <a:prstGeom prst="roundRect">
            <a:avLst>
              <a:gd name="adj" fmla="val 28000"/>
            </a:avLst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44687" y="2377440"/>
            <a:ext cx="2374239" cy="219456"/>
          </a:xfrm>
          <a:prstGeom prst="roundRect">
            <a:avLst>
              <a:gd name="adj" fmla="val 28000"/>
            </a:avLst>
          </a:prstGeom>
          <a:solidFill>
            <a:srgbClr val="7A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28654" y="2359152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onsolas"/>
              </a:rPr>
              <a:t>774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7327" y="2688336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429 rate limit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44687" y="2706624"/>
            <a:ext cx="2374239" cy="219456"/>
          </a:xfrm>
          <a:prstGeom prst="roundRect">
            <a:avLst>
              <a:gd name="adj" fmla="val 28000"/>
            </a:avLst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44687" y="2706624"/>
            <a:ext cx="925953" cy="219456"/>
          </a:xfrm>
          <a:prstGeom prst="roundRect">
            <a:avLst>
              <a:gd name="adj" fmla="val 28000"/>
            </a:avLst>
          </a:prstGeom>
          <a:solidFill>
            <a:srgbClr val="B98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28654" y="2688336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onsolas"/>
              </a:rPr>
              <a:t>299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7327" y="3017520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400 bad request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44687" y="3035808"/>
            <a:ext cx="2374239" cy="219456"/>
          </a:xfrm>
          <a:prstGeom prst="roundRect">
            <a:avLst>
              <a:gd name="adj" fmla="val 28000"/>
            </a:avLst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44687" y="3035808"/>
            <a:ext cx="522332" cy="219456"/>
          </a:xfrm>
          <a:prstGeom prst="roundRect">
            <a:avLst>
              <a:gd name="adj" fmla="val 28000"/>
            </a:avLst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28654" y="3017520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onsolas"/>
              </a:rPr>
              <a:t>172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7327" y="3346704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500 server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44687" y="3364992"/>
            <a:ext cx="2374239" cy="219456"/>
          </a:xfrm>
          <a:prstGeom prst="roundRect">
            <a:avLst>
              <a:gd name="adj" fmla="val 28000"/>
            </a:avLst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44687" y="3364992"/>
            <a:ext cx="261166" cy="219456"/>
          </a:xfrm>
          <a:prstGeom prst="roundRect">
            <a:avLst>
              <a:gd name="adj" fmla="val 28000"/>
            </a:avLst>
          </a:prstGeom>
          <a:solidFill>
            <a:srgbClr val="CF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28654" y="3346704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onsolas"/>
              </a:rPr>
              <a:t>83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07327" y="3675888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401 auth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44687" y="3694176"/>
            <a:ext cx="2374239" cy="219456"/>
          </a:xfrm>
          <a:prstGeom prst="roundRect">
            <a:avLst>
              <a:gd name="adj" fmla="val 28000"/>
            </a:avLst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244687" y="3694176"/>
            <a:ext cx="94969" cy="219456"/>
          </a:xfrm>
          <a:prstGeom prst="roundRect">
            <a:avLst>
              <a:gd name="adj" fmla="val 28000"/>
            </a:avLst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728654" y="3675888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onsolas"/>
              </a:rPr>
              <a:t>34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07327" y="4160520"/>
            <a:ext cx="4751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47525F"/>
                </a:solidFill>
                <a:latin typeface="Calibri"/>
              </a:rPr>
              <a:t>Among typed errors, 429 rate-limiting dominates — capacity/throttling, not user error. Retry/backoff + quota headroom matter most.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spc="200">
                <a:solidFill>
                  <a:srgbClr val="185AB0"/>
                </a:solidFill>
                <a:latin typeface="Consolas"/>
              </a:rPr>
              <a:t>07 — SESSIONS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F151B"/>
                </a:solidFill>
                <a:latin typeface="Calibri"/>
              </a:rPr>
              <a:t>Short, cheap, and highly agentic — with a heavy tail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011680"/>
            <a:ext cx="1675333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304288"/>
            <a:ext cx="144673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F151B"/>
                </a:solidFill>
                <a:latin typeface="Consolas"/>
              </a:rPr>
              <a:t>7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063240"/>
            <a:ext cx="144673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spc="40">
                <a:solidFill>
                  <a:srgbClr val="47525F"/>
                </a:solidFill>
                <a:latin typeface="Calibri"/>
              </a:rPr>
              <a:t>MEDIAN DURATION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98293" y="2011680"/>
            <a:ext cx="1675333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35453" y="2304288"/>
            <a:ext cx="144673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F151B"/>
                </a:solidFill>
                <a:latin typeface="Consolas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5453" y="3063240"/>
            <a:ext cx="144673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spc="40">
                <a:solidFill>
                  <a:srgbClr val="47525F"/>
                </a:solidFill>
                <a:latin typeface="Calibri"/>
              </a:rPr>
              <a:t>MEDIAN TURNS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2011680"/>
            <a:ext cx="1675333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5378" y="2304288"/>
            <a:ext cx="144673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F151B"/>
                </a:solidFill>
                <a:latin typeface="Consolas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5378" y="3063240"/>
            <a:ext cx="144673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spc="40">
                <a:solidFill>
                  <a:srgbClr val="47525F"/>
                </a:solidFill>
                <a:latin typeface="Calibri"/>
              </a:rPr>
              <a:t>MEDIAN TOOL CALLS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8143" y="2011680"/>
            <a:ext cx="1675333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5303" y="2304288"/>
            <a:ext cx="144673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F151B"/>
                </a:solidFill>
                <a:latin typeface="Consolas"/>
              </a:rPr>
              <a:t>$0.67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5303" y="3063240"/>
            <a:ext cx="144673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spc="40">
                <a:solidFill>
                  <a:srgbClr val="47525F"/>
                </a:solidFill>
                <a:latin typeface="Calibri"/>
              </a:rPr>
              <a:t>MEDIAN COST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8068" y="2011680"/>
            <a:ext cx="1675333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5228" y="2304288"/>
            <a:ext cx="144673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F151B"/>
                </a:solidFill>
                <a:latin typeface="Consolas"/>
              </a:rPr>
              <a:t>$2.84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5228" y="3063240"/>
            <a:ext cx="144673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spc="40">
                <a:solidFill>
                  <a:srgbClr val="47525F"/>
                </a:solidFill>
                <a:latin typeface="Calibri"/>
              </a:rPr>
              <a:t>P90 COST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57993" y="2011680"/>
            <a:ext cx="1675333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95153" y="2304288"/>
            <a:ext cx="144673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F151B"/>
                </a:solidFill>
                <a:latin typeface="Consolas"/>
              </a:rPr>
              <a:t>$18.44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95153" y="3063240"/>
            <a:ext cx="144673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spc="40">
                <a:solidFill>
                  <a:srgbClr val="47525F"/>
                </a:solidFill>
                <a:latin typeface="Calibri"/>
              </a:rPr>
              <a:t>MAX SESSION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114800"/>
            <a:ext cx="10874959" cy="841248"/>
          </a:xfrm>
          <a:prstGeom prst="roundRect">
            <a:avLst>
              <a:gd name="adj" fmla="val 10000"/>
            </a:avLst>
          </a:prstGeom>
          <a:solidFill>
            <a:srgbClr val="E9F1FC"/>
          </a:solidFill>
          <a:ln w="9525">
            <a:solidFill>
              <a:srgbClr val="BED7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9536" y="4334256"/>
            <a:ext cx="1554480" cy="310896"/>
          </a:xfrm>
          <a:prstGeom prst="roundRect">
            <a:avLst>
              <a:gd name="adj" fmla="val 30000"/>
            </a:avLst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4338828"/>
            <a:ext cx="1554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spc="100">
                <a:solidFill>
                  <a:srgbClr val="FFFFFF"/>
                </a:solidFill>
                <a:latin typeface="Consolas"/>
              </a:rPr>
              <a:t>PRODUCT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15184" y="4261104"/>
            <a:ext cx="84975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0F151B"/>
                </a:solidFill>
                <a:latin typeface="Calibri"/>
              </a:rPr>
              <a:t>The median session is a quick 7-minute, sub-dollar task running ~4 tools per turn. The p90→max spread ($2.84 → $18.44) is a long tail of deep sessions — the place to watch for runaway cost.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spc="200">
                <a:solidFill>
                  <a:srgbClr val="185AB0"/>
                </a:solidFill>
                <a:latin typeface="Consolas"/>
              </a:rPr>
              <a:t>08 —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F151B"/>
                </a:solidFill>
                <a:latin typeface="Calibri"/>
              </a:rPr>
              <a:t>IDE-embedded &amp; Mac-first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783080"/>
            <a:ext cx="5300319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938528"/>
            <a:ext cx="4751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F151B"/>
                </a:solidFill>
                <a:latin typeface="Calibri"/>
              </a:rPr>
              <a:t>Users by terminal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450592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VS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87168" y="2468880"/>
            <a:ext cx="2557119" cy="274320"/>
          </a:xfrm>
          <a:prstGeom prst="roundRect">
            <a:avLst>
              <a:gd name="adj" fmla="val 28000"/>
            </a:avLst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87168" y="2468880"/>
            <a:ext cx="2557119" cy="274320"/>
          </a:xfrm>
          <a:prstGeom prst="roundRect">
            <a:avLst>
              <a:gd name="adj" fmla="val 28000"/>
            </a:avLst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54015" y="2450592"/>
            <a:ext cx="640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onsolas"/>
              </a:rPr>
              <a:t>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953512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JetBrains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7A8794"/>
                </a:solidFill>
                <a:latin typeface="Calibri"/>
              </a:rPr>
              <a:t>PyCharm/WebStorm/IntelliJ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87168" y="2971800"/>
            <a:ext cx="2557119" cy="274320"/>
          </a:xfrm>
          <a:prstGeom prst="roundRect">
            <a:avLst>
              <a:gd name="adj" fmla="val 28000"/>
            </a:avLst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87168" y="2971800"/>
            <a:ext cx="2429263" cy="274320"/>
          </a:xfrm>
          <a:prstGeom prst="roundRect">
            <a:avLst>
              <a:gd name="adj" fmla="val 28000"/>
            </a:avLst>
          </a:prstGeom>
          <a:solidFill>
            <a:srgbClr val="0F9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54015" y="2953512"/>
            <a:ext cx="640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onsolas"/>
              </a:rPr>
              <a:t>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456432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Warp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7168" y="3474720"/>
            <a:ext cx="2557119" cy="274320"/>
          </a:xfrm>
          <a:prstGeom prst="roundRect">
            <a:avLst>
              <a:gd name="adj" fmla="val 28000"/>
            </a:avLst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487168" y="3474720"/>
            <a:ext cx="792706" cy="274320"/>
          </a:xfrm>
          <a:prstGeom prst="roundRect">
            <a:avLst>
              <a:gd name="adj" fmla="val 28000"/>
            </a:avLst>
          </a:prstGeom>
          <a:solidFill>
            <a:srgbClr val="D08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54015" y="3456432"/>
            <a:ext cx="640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onsolas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023360"/>
            <a:ext cx="4751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47525F"/>
                </a:solidFill>
                <a:latin typeface="Calibri"/>
              </a:rPr>
              <a:t>IDE integrations dominate standalone terminals.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1783080"/>
            <a:ext cx="5300319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7327" y="1938528"/>
            <a:ext cx="4751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F151B"/>
                </a:solidFill>
                <a:latin typeface="Calibri"/>
              </a:rPr>
              <a:t>Users by 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327" y="2450592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macOS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87487" y="2468880"/>
            <a:ext cx="2831439" cy="274320"/>
          </a:xfrm>
          <a:prstGeom prst="roundRect">
            <a:avLst>
              <a:gd name="adj" fmla="val 28000"/>
            </a:avLst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87487" y="2468880"/>
            <a:ext cx="2831439" cy="274320"/>
          </a:xfrm>
          <a:prstGeom prst="roundRect">
            <a:avLst>
              <a:gd name="adj" fmla="val 28000"/>
            </a:avLst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28654" y="2450592"/>
            <a:ext cx="640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onsolas"/>
              </a:rPr>
              <a:t>81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7327" y="2907792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Linux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87487" y="2926080"/>
            <a:ext cx="2831439" cy="274320"/>
          </a:xfrm>
          <a:prstGeom prst="roundRect">
            <a:avLst>
              <a:gd name="adj" fmla="val 28000"/>
            </a:avLst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87487" y="2926080"/>
            <a:ext cx="622916" cy="274320"/>
          </a:xfrm>
          <a:prstGeom prst="roundRect">
            <a:avLst>
              <a:gd name="adj" fmla="val 28000"/>
            </a:avLst>
          </a:prstGeom>
          <a:solidFill>
            <a:srgbClr val="0F9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28654" y="2907792"/>
            <a:ext cx="640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onsolas"/>
              </a:rPr>
              <a:t>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7327" y="3364992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Windows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87487" y="3383280"/>
            <a:ext cx="2831439" cy="274320"/>
          </a:xfrm>
          <a:prstGeom prst="roundRect">
            <a:avLst>
              <a:gd name="adj" fmla="val 28000"/>
            </a:avLst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787487" y="3383280"/>
            <a:ext cx="45720" cy="274320"/>
          </a:xfrm>
          <a:prstGeom prst="roundRect">
            <a:avLst>
              <a:gd name="adj" fmla="val 28000"/>
            </a:avLst>
          </a:prstGeom>
          <a:solidFill>
            <a:srgbClr val="D08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28654" y="3364992"/>
            <a:ext cx="640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onsolas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7327" y="4023360"/>
            <a:ext cx="4751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47525F"/>
                </a:solidFill>
                <a:latin typeface="Calibri"/>
              </a:rPr>
              <a:t>CLI versions span 2.1.37 → 2.1.56 with no forced upgrade — a fragmentation signal.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spc="200">
                <a:solidFill>
                  <a:srgbClr val="185AB0"/>
                </a:solidFill>
                <a:latin typeface="Consolas"/>
              </a:rPr>
              <a:t>09 —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F151B"/>
                </a:solidFill>
                <a:latin typeface="Calibri"/>
              </a:rPr>
              <a:t>Four thin, testable layers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2057948" cy="1828800"/>
          </a:xfrm>
          <a:prstGeom prst="roundRect">
            <a:avLst>
              <a:gd name="adj" fmla="val 6000"/>
            </a:avLst>
          </a:prstGeom>
          <a:solidFill>
            <a:srgbClr val="ECF0F4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993392"/>
            <a:ext cx="17836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spc="100">
                <a:solidFill>
                  <a:srgbClr val="185AB0"/>
                </a:solidFill>
                <a:latin typeface="Consolas"/>
              </a:rPr>
              <a:t>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286000"/>
            <a:ext cx="17836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151B"/>
                </a:solidFill>
                <a:latin typeface="Calibri"/>
              </a:rPr>
              <a:t>Telemetry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788920"/>
            <a:ext cx="17836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7525F"/>
                </a:solidFill>
                <a:latin typeface="Calibri"/>
              </a:rPr>
              <a:t>JSONL + employees.csv from the seeded generator.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8028" y="2514600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7A8794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2620" y="1828800"/>
            <a:ext cx="2057948" cy="1828800"/>
          </a:xfrm>
          <a:prstGeom prst="roundRect">
            <a:avLst>
              <a:gd name="adj" fmla="val 6000"/>
            </a:avLst>
          </a:prstGeom>
          <a:solidFill>
            <a:srgbClr val="ECF0F4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08924" y="1993392"/>
            <a:ext cx="17836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spc="100">
                <a:solidFill>
                  <a:srgbClr val="185AB0"/>
                </a:solidFill>
                <a:latin typeface="Consolas"/>
              </a:rPr>
              <a:t>INGEST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8924" y="2286000"/>
            <a:ext cx="17836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151B"/>
                </a:solidFill>
                <a:latin typeface="Calibri"/>
              </a:rPr>
              <a:t>Parse &amp; normalize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8924" y="2788920"/>
            <a:ext cx="17836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7525F"/>
                </a:solidFill>
                <a:latin typeface="Calibri"/>
              </a:rPr>
              <a:t>Streams doubly-nested JSONL, casts string numbers, validates &amp; tallies.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2280" y="2514600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7A8794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66872" y="1828800"/>
            <a:ext cx="2057948" cy="1828800"/>
          </a:xfrm>
          <a:prstGeom prst="roundRect">
            <a:avLst>
              <a:gd name="adj" fmla="val 6000"/>
            </a:avLst>
          </a:prstGeom>
          <a:solidFill>
            <a:srgbClr val="ECF0F4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3176" y="1993392"/>
            <a:ext cx="17836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spc="100">
                <a:solidFill>
                  <a:srgbClr val="185AB0"/>
                </a:solidFill>
                <a:latin typeface="Consolas"/>
              </a:rPr>
              <a:t>ETL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3176" y="2286000"/>
            <a:ext cx="17836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151B"/>
                </a:solidFill>
                <a:latin typeface="Calibri"/>
              </a:rPr>
              <a:t>Load to DuckDB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3176" y="2788920"/>
            <a:ext cx="17836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7525F"/>
                </a:solidFill>
                <a:latin typeface="Calibri"/>
              </a:rPr>
              <a:t>Chunked inserts → events + employees → enriched join view.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6532" y="2514600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7A8794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71124" y="1828800"/>
            <a:ext cx="2057948" cy="1828800"/>
          </a:xfrm>
          <a:prstGeom prst="roundRect">
            <a:avLst>
              <a:gd name="adj" fmla="val 6000"/>
            </a:avLst>
          </a:prstGeom>
          <a:solidFill>
            <a:srgbClr val="ECF0F4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17428" y="1993392"/>
            <a:ext cx="17836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spc="100">
                <a:solidFill>
                  <a:srgbClr val="185AB0"/>
                </a:solidFill>
                <a:latin typeface="Consolas"/>
              </a:rPr>
              <a:t>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7428" y="2286000"/>
            <a:ext cx="17836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151B"/>
                </a:solidFill>
                <a:latin typeface="Calibri"/>
              </a:rPr>
              <a:t>Parameterized 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7428" y="2788920"/>
            <a:ext cx="17836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7525F"/>
                </a:solidFill>
                <a:latin typeface="Calibri"/>
              </a:rPr>
              <a:t>One filter builder, bind params only, returns DataFrames.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0784" y="2514600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7A8794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75376" y="1828800"/>
            <a:ext cx="2057948" cy="1828800"/>
          </a:xfrm>
          <a:prstGeom prst="roundRect">
            <a:avLst>
              <a:gd name="adj" fmla="val 6000"/>
            </a:avLst>
          </a:prstGeom>
          <a:solidFill>
            <a:srgbClr val="ECF0F4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21680" y="1993392"/>
            <a:ext cx="17836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spc="100">
                <a:solidFill>
                  <a:srgbClr val="185AB0"/>
                </a:solidFill>
                <a:latin typeface="Consolas"/>
              </a:rPr>
              <a:t>SERVE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21680" y="2286000"/>
            <a:ext cx="17836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151B"/>
                </a:solidFill>
                <a:latin typeface="Calibri"/>
              </a:rPr>
              <a:t>Dashboard +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21680" y="2788920"/>
            <a:ext cx="17836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7525F"/>
                </a:solidFill>
                <a:latin typeface="Calibri"/>
              </a:rPr>
              <a:t>6 Streamlit tabs (:8501) + FastAPI REST (:8000/docs).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77639"/>
            <a:ext cx="10874959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114800"/>
            <a:ext cx="103263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151B"/>
                </a:solidFill>
                <a:latin typeface="Calibri"/>
              </a:rPr>
              <a:t>The key data challenge — double nesting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526280"/>
            <a:ext cx="103263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47525F"/>
                </a:solidFill>
                <a:latin typeface="Calibri"/>
              </a:rPr>
              <a:t>Each line is a CloudWatch batch; the real events are JSON strings nested inside logEvents[].message, and every numeric attribute is a string.  </a:t>
            </a:r>
            <a:r>
              <a:rPr sz="1250" b="1">
                <a:solidFill>
                  <a:srgbClr val="185AB0"/>
                </a:solidFill>
                <a:latin typeface="Consolas"/>
              </a:rPr>
              <a:t>line → json.loads → logEvents[i].message → json.loads again → event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47525F"/>
                </a:solidFill>
                <a:latin typeface="Calibri"/>
              </a:rPr>
              <a:t>The ingest layer unpacks both levels, casts types, and skips malformed rows while counting them for validation.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spc="200">
                <a:solidFill>
                  <a:srgbClr val="185AB0"/>
                </a:solidFill>
                <a:latin typeface="Consolas"/>
              </a:rPr>
              <a:t>10 — ARCHITECTURE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F151B"/>
                </a:solidFill>
                <a:latin typeface="Calibri"/>
              </a:rPr>
              <a:t>Why these choices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956815"/>
            <a:ext cx="128016" cy="128016"/>
          </a:xfrm>
          <a:prstGeom prst="roundRect">
            <a:avLst>
              <a:gd name="adj" fmla="val 30000"/>
            </a:avLst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" y="1874519"/>
            <a:ext cx="1056406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151B"/>
                </a:solidFill>
                <a:latin typeface="Calibri"/>
              </a:rPr>
              <a:t>DuckDB — </a:t>
            </a:r>
            <a:r>
              <a:rPr sz="1400" b="0">
                <a:solidFill>
                  <a:srgbClr val="47525F"/>
                </a:solidFill>
                <a:latin typeface="Calibri"/>
              </a:rPr>
              <a:t>Embedded columnar engine: zero server, one file, fast full-scan aggregation. Reproducible, and mirrors how this data is queried in Athena/S3.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798063"/>
            <a:ext cx="128016" cy="128016"/>
          </a:xfrm>
          <a:prstGeom prst="roundRect">
            <a:avLst>
              <a:gd name="adj" fmla="val 30000"/>
            </a:avLst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715767"/>
            <a:ext cx="1056406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151B"/>
                </a:solidFill>
                <a:latin typeface="Calibri"/>
              </a:rPr>
              <a:t>Streamlit + Plotly — </a:t>
            </a:r>
            <a:r>
              <a:rPr sz="1400" b="0">
                <a:solidFill>
                  <a:srgbClr val="47525F"/>
                </a:solidFill>
                <a:latin typeface="Calibri"/>
              </a:rPr>
              <a:t>Interactive dashboards in pure Python, one command to serve, trivial for a reviewer to run.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639311"/>
            <a:ext cx="128016" cy="128016"/>
          </a:xfrm>
          <a:prstGeom prst="roundRect">
            <a:avLst>
              <a:gd name="adj" fmla="val 30000"/>
            </a:avLst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3557015"/>
            <a:ext cx="1056406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151B"/>
                </a:solidFill>
                <a:latin typeface="Calibri"/>
              </a:rPr>
              <a:t>Thin layered Python — </a:t>
            </a:r>
            <a:r>
              <a:rPr sz="1400" b="0">
                <a:solidFill>
                  <a:srgbClr val="47525F"/>
                </a:solidFill>
                <a:latin typeface="Calibri"/>
              </a:rPr>
              <a:t>Ingest / ETL / queries separated so each is testable and the query API is shared by dashboard and tests alike.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480559"/>
            <a:ext cx="128016" cy="128016"/>
          </a:xfrm>
          <a:prstGeom prst="roundRect">
            <a:avLst>
              <a:gd name="adj" fmla="val 30000"/>
            </a:avLst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4398263"/>
            <a:ext cx="1056406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151B"/>
                </a:solidFill>
                <a:latin typeface="Calibri"/>
              </a:rPr>
              <a:t>Bind params + allow-list — </a:t>
            </a:r>
            <a:r>
              <a:rPr sz="1400" b="0">
                <a:solidFill>
                  <a:srgbClr val="47525F"/>
                </a:solidFill>
                <a:latin typeface="Calibri"/>
              </a:rPr>
              <a:t>Filter values are never string-formatted into SQL; the one interpolated column name is checked against an allow-list.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5321807"/>
            <a:ext cx="128016" cy="128016"/>
          </a:xfrm>
          <a:prstGeom prst="roundRect">
            <a:avLst>
              <a:gd name="adj" fmla="val 30000"/>
            </a:avLst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5239511"/>
            <a:ext cx="1056406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151B"/>
                </a:solidFill>
                <a:latin typeface="Calibri"/>
              </a:rPr>
              <a:t>Rebuild-from-scratch ETL — </a:t>
            </a:r>
            <a:r>
              <a:rPr sz="1400" b="0">
                <a:solidFill>
                  <a:srgbClr val="47525F"/>
                </a:solidFill>
                <a:latin typeface="Calibri"/>
              </a:rPr>
              <a:t>Deterministic output every run; the seeded generator keeps the whole dataset reproducible.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spc="200">
                <a:solidFill>
                  <a:srgbClr val="185AB0"/>
                </a:solidFill>
                <a:latin typeface="Consolas"/>
              </a:rPr>
              <a:t>11 — WHO CONSUMES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F151B"/>
                </a:solidFill>
                <a:latin typeface="Calibri"/>
              </a:rPr>
              <a:t>Framed for three personas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920240"/>
            <a:ext cx="345429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148840"/>
            <a:ext cx="2905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spc="100">
                <a:solidFill>
                  <a:srgbClr val="185AB0"/>
                </a:solidFill>
                <a:latin typeface="Consolas"/>
              </a:rPr>
              <a:t>LEADERSHIP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514600"/>
            <a:ext cx="29056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F151B"/>
                </a:solidFill>
                <a:latin typeface="Calibri"/>
              </a:rPr>
              <a:t>Overview tab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3172968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3090672"/>
            <a:ext cx="2722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47525F"/>
                </a:solidFill>
                <a:latin typeface="Calibri"/>
              </a:rPr>
              <a:t>Daily spend &amp; active-user trend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3739896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3657600"/>
            <a:ext cx="2722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47525F"/>
                </a:solidFill>
                <a:latin typeface="Calibri"/>
              </a:rPr>
              <a:t>Activity heatmap (day × hour)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4306824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4224528"/>
            <a:ext cx="2722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47525F"/>
                </a:solidFill>
                <a:latin typeface="Calibri"/>
              </a:rPr>
              <a:t>Is adoption growing, at what cost?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8698" y="1920240"/>
            <a:ext cx="345429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3018" y="2148840"/>
            <a:ext cx="2905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spc="100">
                <a:solidFill>
                  <a:srgbClr val="185AB0"/>
                </a:solidFill>
                <a:latin typeface="Consolas"/>
              </a:rPr>
              <a:t>FINOPS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3018" y="2514600"/>
            <a:ext cx="29056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F151B"/>
                </a:solidFill>
                <a:latin typeface="Calibri"/>
              </a:rPr>
              <a:t>Cost tab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43018" y="3172968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4186" y="3090672"/>
            <a:ext cx="2722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47525F"/>
                </a:solidFill>
                <a:latin typeface="Calibri"/>
              </a:rPr>
              <a:t>Spend by model / practice / seniority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43018" y="3739896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4186" y="3657600"/>
            <a:ext cx="2722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47525F"/>
                </a:solidFill>
                <a:latin typeface="Calibri"/>
              </a:rPr>
              <a:t>Cost per user &amp; top spenders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43018" y="4306824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4186" y="4224528"/>
            <a:ext cx="2722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47525F"/>
                </a:solidFill>
                <a:latin typeface="Calibri"/>
              </a:rPr>
              <a:t>Where is the routing lever?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9028" y="1920240"/>
            <a:ext cx="345429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3348" y="2148840"/>
            <a:ext cx="2905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spc="100">
                <a:solidFill>
                  <a:srgbClr val="185AB0"/>
                </a:solidFill>
                <a:latin typeface="Consolas"/>
              </a:rPr>
              <a:t>PLATFORM / DX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3348" y="2514600"/>
            <a:ext cx="29056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F151B"/>
                </a:solidFill>
                <a:latin typeface="Calibri"/>
              </a:rPr>
              <a:t>Tools + Reliability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53348" y="3172968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54516" y="3090672"/>
            <a:ext cx="2722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47525F"/>
                </a:solidFill>
                <a:latin typeface="Calibri"/>
              </a:rPr>
              <a:t>Tool adoption &amp; accept-vs-reject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53348" y="3739896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54516" y="3657600"/>
            <a:ext cx="2722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47525F"/>
                </a:solidFill>
                <a:latin typeface="Calibri"/>
              </a:rPr>
              <a:t>Success rates, latency, error mix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53348" y="4306824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54516" y="4224528"/>
            <a:ext cx="2722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47525F"/>
                </a:solidFill>
                <a:latin typeface="Calibri"/>
              </a:rPr>
              <a:t>Which tools need guardrails?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spc="200">
                <a:solidFill>
                  <a:srgbClr val="185AB0"/>
                </a:solidFill>
                <a:latin typeface="Consolas"/>
              </a:rPr>
              <a:t>12 — TRADE-OFFS &amp;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F151B"/>
                </a:solidFill>
                <a:latin typeface="Calibri"/>
              </a:rPr>
              <a:t>What I'd do with more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74519"/>
            <a:ext cx="5300319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057400"/>
            <a:ext cx="4751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F151B"/>
                </a:solidFill>
                <a:latin typeface="Calibri"/>
              </a:rPr>
              <a:t>Conscious trade-offs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2633472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7A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2560320"/>
            <a:ext cx="44773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Single-file DuckDB </a:t>
            </a:r>
            <a:r>
              <a:rPr sz="1300" b="0">
                <a:solidFill>
                  <a:srgbClr val="47525F"/>
                </a:solidFill>
                <a:latin typeface="Calibri"/>
              </a:rPr>
              <a:t>over a warehouse — perfect for a reproducible take-home; Athena/columnar at real scale.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3410712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7A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337560"/>
            <a:ext cx="44773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Batch ETL </a:t>
            </a:r>
            <a:r>
              <a:rPr sz="1300" b="0">
                <a:solidFill>
                  <a:srgbClr val="47525F"/>
                </a:solidFill>
                <a:latin typeface="Calibri"/>
              </a:rPr>
              <a:t>over streaming — deterministic; rebuilds the DB each run.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4187952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7A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4114800"/>
            <a:ext cx="44773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Streamlit </a:t>
            </a:r>
            <a:r>
              <a:rPr sz="1300" b="0">
                <a:solidFill>
                  <a:srgbClr val="47525F"/>
                </a:solidFill>
                <a:latin typeface="Calibri"/>
              </a:rPr>
              <a:t>over a custom app — fastest path to interactive; not multi-tenant.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874519"/>
            <a:ext cx="5300319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7" y="2057400"/>
            <a:ext cx="4751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F151B"/>
                </a:solidFill>
                <a:latin typeface="Calibri"/>
              </a:rPr>
              <a:t>Delivered bonus &amp; roadmap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07327" y="2633472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0A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8495" y="2560320"/>
            <a:ext cx="44773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Anomaly detection — shipped </a:t>
            </a:r>
            <a:r>
              <a:rPr sz="1300" b="0">
                <a:solidFill>
                  <a:srgbClr val="47525F"/>
                </a:solidFill>
                <a:latin typeface="Calibri"/>
              </a:rPr>
              <a:t>daily cost / error-rate z-score in the Anomalies tab.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07327" y="3410712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0A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8495" y="3337560"/>
            <a:ext cx="44773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REST API — shipped </a:t>
            </a:r>
            <a:r>
              <a:rPr sz="1300" b="0">
                <a:solidFill>
                  <a:srgbClr val="47525F"/>
                </a:solidFill>
                <a:latin typeface="Calibri"/>
              </a:rPr>
              <a:t>FastAPI read-only layer over queries.py (:8000/docs).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07327" y="4187952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8495" y="4114800"/>
            <a:ext cx="44773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51B"/>
                </a:solidFill>
                <a:latin typeface="Calibri"/>
              </a:rPr>
              <a:t>Incremental ingest </a:t>
            </a:r>
            <a:r>
              <a:rPr sz="1300" b="0">
                <a:solidFill>
                  <a:srgbClr val="47525F"/>
                </a:solidFill>
                <a:latin typeface="Calibri"/>
              </a:rPr>
              <a:t>to approach a real-time streaming source.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2286000"/>
            <a:ext cx="1280160" cy="82296"/>
          </a:xfrm>
          <a:prstGeom prst="roundRect">
            <a:avLst>
              <a:gd name="adj" fmla="val 50000"/>
            </a:avLst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651760"/>
            <a:ext cx="1087495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Reproducible from one command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70332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8EB6EC"/>
                </a:solidFill>
                <a:latin typeface="Consolas"/>
              </a:rPr>
              <a:t>docker compose up --build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48056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B9C4D0"/>
                </a:solidFill>
                <a:latin typeface="Calibri"/>
              </a:rPr>
              <a:t>Built with Claude Code — CLAUDE.md + a custom telemetry-analytics skill. Synthetic data, no secrets, env-var config.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2788920"/>
            <a:ext cx="1280160" cy="82296"/>
          </a:xfrm>
          <a:prstGeom prst="roundRect">
            <a:avLst>
              <a:gd name="adj" fmla="val 50000"/>
            </a:avLst>
          </a:prstGeom>
          <a:solidFill>
            <a:srgbClr val="1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063240"/>
            <a:ext cx="1087495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Thank you for your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60520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B9C4D0"/>
                </a:solidFill>
                <a:latin typeface="Calibri"/>
              </a:rPr>
              <a:t>Claude Code Usage Analytics Platform  ·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